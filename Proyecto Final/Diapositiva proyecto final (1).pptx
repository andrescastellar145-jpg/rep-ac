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9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NA" initials="S" lastIdx="2" clrIdx="0">
    <p:extLst>
      <p:ext uri="{19B8F6BF-5375-455C-9EA6-DF929625EA0E}">
        <p15:presenceInfo xmlns:p15="http://schemas.microsoft.com/office/powerpoint/2012/main" userId="SE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6" autoAdjust="0"/>
  </p:normalViewPr>
  <p:slideViewPr>
    <p:cSldViewPr snapToGrid="0" snapToObjects="1">
      <p:cViewPr varScale="1">
        <p:scale>
          <a:sx n="104" d="100"/>
          <a:sy n="104" d="100"/>
        </p:scale>
        <p:origin x="12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7T07:48:19.860" idx="2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4T08:57:17.487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DO_DASHBOARD8220213628170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12191695" cy="6263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963" y="0"/>
            <a:ext cx="6629400" cy="6858000"/>
          </a:xfrm>
          <a:prstGeom prst="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BBEDC"/>
                </a:solidFill>
                <a:latin typeface="Aptos"/>
              </a:defRPr>
            </a:pPr>
            <a:r>
              <a:t>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577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Análisis de ventas</a:t>
            </a:r>
            <a:br/>
            <a:r>
              <a:t>con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Dashboard basado en la tabla DataDiaUno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30551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Institution</a:t>
            </a:r>
            <a:r>
              <a:rPr lang="es-CO" dirty="0">
                <a:latin typeface="Arial Black" panose="020B0A04020102020204" pitchFamily="34" charset="0"/>
              </a:rPr>
              <a:t>n</a:t>
            </a:r>
            <a:r>
              <a:rPr dirty="0"/>
              <a:t>:</a:t>
            </a:r>
            <a:r>
              <a:rPr lang="es-CO" dirty="0"/>
              <a:t>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Sena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41809" y="4508658"/>
            <a:ext cx="1884931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Program</a:t>
            </a:r>
            <a:r>
              <a:rPr lang="es-CO" dirty="0">
                <a:latin typeface="Arial Black" panose="020B0A04020102020204" pitchFamily="34" charset="0"/>
              </a:rPr>
              <a:t>a</a:t>
            </a:r>
            <a:r>
              <a:rPr dirty="0"/>
              <a:t>: </a:t>
            </a:r>
            <a:endParaRPr lang="es-CO" dirty="0"/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Analítica de datos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956681" y="3658774"/>
            <a:ext cx="3060071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Integrantes:</a:t>
            </a:r>
            <a:r>
              <a:rPr lang="es-CO" dirty="0">
                <a:latin typeface="Arial Black" panose="020B0A04020102020204" pitchFamily="34" charset="0"/>
              </a:rPr>
              <a:t>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>
                <a:latin typeface="Aptos"/>
              </a:rPr>
              <a:t>Andres Castellar </a:t>
            </a:r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>
                <a:latin typeface="Aptos"/>
              </a:rPr>
              <a:t>Keiner Pedrozo </a:t>
            </a:r>
            <a:endParaRPr dirty="0"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54394" y="4528379"/>
            <a:ext cx="206464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dirty="0">
                <a:latin typeface="Arial Black" panose="020B0A04020102020204" pitchFamily="34" charset="0"/>
              </a:rPr>
              <a:t>Docent</a:t>
            </a:r>
            <a:r>
              <a:rPr lang="es-CO" dirty="0">
                <a:latin typeface="Arial Black" panose="020B0A04020102020204" pitchFamily="34" charset="0"/>
              </a:rPr>
              <a:t>e</a:t>
            </a:r>
            <a:r>
              <a:rPr dirty="0"/>
              <a:t>: </a:t>
            </a:r>
            <a:endParaRPr lang="es-CO" dirty="0"/>
          </a:p>
          <a:p>
            <a:pPr algn="ctr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Jonathan Robledo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915400" y="161220"/>
            <a:ext cx="53035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1EBF2"/>
                </a:solidFill>
                <a:latin typeface="Aptos"/>
              </a:defRPr>
            </a:pPr>
            <a:r>
              <a:rPr lang="es-CO" dirty="0"/>
              <a:t>03 / Septiembre / 2026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ECDD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10588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¿Qué problema se busca resolver?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56231"/>
            <a:ext cx="1058875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rPr dirty="0"/>
              <a:t>El proyecto </a:t>
            </a:r>
            <a:r>
              <a:rPr dirty="0" err="1"/>
              <a:t>reúne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tabla</a:t>
            </a:r>
            <a:r>
              <a:rPr dirty="0"/>
              <a:t> y la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dashboard para </a:t>
            </a:r>
            <a:r>
              <a:rPr dirty="0" err="1"/>
              <a:t>observar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, </a:t>
            </a:r>
            <a:r>
              <a:rPr dirty="0" err="1"/>
              <a:t>unidades</a:t>
            </a:r>
            <a:r>
              <a:rPr dirty="0"/>
              <a:t>, ganancia, </a:t>
            </a:r>
            <a:r>
              <a:rPr dirty="0" err="1"/>
              <a:t>margen</a:t>
            </a:r>
            <a:r>
              <a:rPr dirty="0"/>
              <a:t>, </a:t>
            </a:r>
            <a:r>
              <a:rPr dirty="0" err="1"/>
              <a:t>ubicación</a:t>
            </a:r>
            <a:r>
              <a:rPr dirty="0"/>
              <a:t> </a:t>
            </a:r>
            <a:r>
              <a:rPr dirty="0" err="1"/>
              <a:t>geográfica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 y </a:t>
            </a:r>
            <a:r>
              <a:rPr dirty="0" err="1"/>
              <a:t>clientes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303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64008" cy="23317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118104"/>
            <a:ext cx="4919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¿Qué contiene el proyecto?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502152"/>
            <a:ext cx="491947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t>• Una tabla: DataDiaUno.</a:t>
            </a:r>
            <a:br/>
            <a:r>
              <a:t>• Medidas DAX para los principales indicadores.</a:t>
            </a:r>
            <a:br/>
            <a:r>
              <a:t>• Tres páginas de análisis: Ventas y Geografía, Productos y Clientes y Análisis de Ventas.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71800"/>
            <a:ext cx="5440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971800"/>
            <a:ext cx="64008" cy="2331720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118104"/>
            <a:ext cx="5056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2C46"/>
                </a:solidFill>
                <a:latin typeface="Aptos"/>
              </a:defRPr>
            </a:pPr>
            <a:r>
              <a:t>¿Cómo se presenta la información?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502152"/>
            <a:ext cx="5056632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B353F"/>
                </a:solidFill>
                <a:latin typeface="Aptos"/>
              </a:defRPr>
            </a:pPr>
            <a:r>
              <a:t>Mediante tarjetas, segmentadores, gráficos de líneas, mapas, barras, columnas, embudo, dona y árbol de descomposición.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10469880" cy="3108960"/>
          </a:xfrm>
          <a:prstGeom prst="round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9738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Analizar</a:t>
            </a:r>
            <a:r>
              <a:rPr dirty="0"/>
              <a:t> las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registradas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DataDiaUno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las </a:t>
            </a:r>
            <a:r>
              <a:rPr dirty="0" err="1"/>
              <a:t>medidas</a:t>
            </a:r>
            <a:r>
              <a:rPr dirty="0"/>
              <a:t> DAX y las </a:t>
            </a:r>
            <a:r>
              <a:rPr dirty="0" err="1"/>
              <a:t>visualizaciones</a:t>
            </a:r>
            <a:r>
              <a:rPr dirty="0"/>
              <a:t> </a:t>
            </a:r>
            <a:r>
              <a:rPr dirty="0" err="1"/>
              <a:t>construidas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Power BI.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9622" y="92611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4598" y="1856748"/>
            <a:ext cx="9019968" cy="2367934"/>
          </a:xfrm>
          <a:prstGeom prst="roundRect">
            <a:avLst/>
          </a:prstGeom>
          <a:solidFill>
            <a:srgbClr val="14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0457" y="1716243"/>
            <a:ext cx="7732565" cy="1969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endParaRPr lang="es-MX" dirty="0"/>
          </a:p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endParaRPr lang="es-MX" dirty="0"/>
          </a:p>
          <a:p>
            <a:pPr>
              <a:defRPr sz="1300" b="0">
                <a:solidFill>
                  <a:srgbClr val="2B353F"/>
                </a:solidFill>
                <a:latin typeface="Aptos"/>
              </a:defRPr>
            </a:pPr>
            <a:r>
              <a:rPr lang="es-MX" sz="1600" dirty="0">
                <a:solidFill>
                  <a:schemeClr val="bg1"/>
                </a:solidFill>
              </a:rPr>
              <a:t>Desarrollar un dashboard interactivo en Power BI que permita transformar datos empresariales en información clara, organizada y útil para la toma de decisiones. Para ello, se aplicarán procesos de conexión y transformación de datos mediante Power Query, creación de relaciones entre tablas, tabla calendario, medidas DAX, filtros, indicadores y diferentes visualizaciones, con el fin de identificar tendencias, analizar resultados y facilitar la interpretación de la información empresarial.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887" y="590485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79205" y="1387136"/>
            <a:ext cx="8618891" cy="3566604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679206" y="4982379"/>
            <a:ext cx="8618890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uadroTexto 29"/>
          <p:cNvSpPr txBox="1"/>
          <p:nvPr/>
        </p:nvSpPr>
        <p:spPr>
          <a:xfrm>
            <a:off x="2073598" y="1685000"/>
            <a:ext cx="7688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>
                <a:latin typeface="Arial Black" panose="020B0A04020102020204" pitchFamily="34" charset="0"/>
              </a:rPr>
              <a:t>Transformación y preparación de datos</a:t>
            </a:r>
          </a:p>
          <a:p>
            <a:r>
              <a:rPr lang="es-MX" sz="1600" dirty="0" smtClean="0">
                <a:latin typeface="Aptos"/>
              </a:rPr>
              <a:t/>
            </a:r>
            <a:br>
              <a:rPr lang="es-MX" sz="1600" dirty="0" smtClean="0">
                <a:latin typeface="Aptos"/>
              </a:rPr>
            </a:br>
            <a:endParaRPr lang="es-CO" sz="1600" dirty="0">
              <a:latin typeface="Apto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054619" y="2114818"/>
            <a:ext cx="8082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/>
              </a:rPr>
              <a:t>La transformación y preparación de datos es una etapa fundamental en Power BI, ya que permite convertir datos provenientes de distintas fuentes en información limpia, estructurada, consistente y adecuada para el análisis. A través de Power Query, se pueden realizar procesos de extracción, transformación y carga (ETL), como eliminar datos innecesarios o duplicados, corregir errores, tratar valores nulos, modificar tipos de datos, estandarizar valores y combinar información procedente de diferentes tablas o fuentes. Una correcta preparación de los datos es esencial para garantizar la calidad de la información y evitar errores en el modelo, los cálculos y las visualizaciones del dashboard.</a:t>
            </a:r>
            <a:endParaRPr lang="es-CO" sz="1600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#2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Rounded Rectangle 25"/>
          <p:cNvSpPr/>
          <p:nvPr/>
        </p:nvSpPr>
        <p:spPr>
          <a:xfrm>
            <a:off x="1666551" y="1527047"/>
            <a:ext cx="8858589" cy="3877097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CuadroTexto 28"/>
          <p:cNvSpPr txBox="1"/>
          <p:nvPr/>
        </p:nvSpPr>
        <p:spPr>
          <a:xfrm>
            <a:off x="2069821" y="1839628"/>
            <a:ext cx="7155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Black" panose="020B0A04020102020204" pitchFamily="34" charset="0"/>
              </a:rPr>
              <a:t>Análisis y visualización de la información</a:t>
            </a:r>
          </a:p>
          <a:p>
            <a:endParaRPr lang="es-MX" sz="1600" dirty="0">
              <a:latin typeface="Aptos"/>
            </a:endParaRPr>
          </a:p>
        </p:txBody>
      </p:sp>
      <p:sp>
        <p:nvSpPr>
          <p:cNvPr id="30" name="Rectangle 26"/>
          <p:cNvSpPr/>
          <p:nvPr/>
        </p:nvSpPr>
        <p:spPr>
          <a:xfrm>
            <a:off x="1666551" y="5404145"/>
            <a:ext cx="8858589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2069821" y="2215665"/>
            <a:ext cx="80520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ptos" panose="020B0004020202020204"/>
              </a:rPr>
              <a:t>El análisis y la visualización de datos constituyen una etapa fundamental en Power BI, ya que permiten transformar los datos previamente preparados en información útil para la interpretación y la toma de decisiones. Para ello, Power BI ofrece herramientas como gráficos, tablas, tarjetas, indicadores y filtros interactivos. Además, mediante el uso de medidas DAX, relaciones entre tablas y tablas calendario, es posible realizar cálculos y análisis más avanzados, como totales, promedios, porcentajes, variaciones y comparaciones por fechas o categorías. Una adecuada selección de las visualizaciones facilita la identificación de patrones, tendencias, relaciones y comportamientos, permitiendo interpretar la información de manera clara y eficiente.</a:t>
            </a:r>
            <a:endParaRPr lang="es-CO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/>
              <a:t>Concept</a:t>
            </a:r>
            <a:r>
              <a:rPr lang="es-MX" dirty="0"/>
              <a:t>o</a:t>
            </a:r>
            <a:r>
              <a:rPr dirty="0"/>
              <a:t> fundamental</a:t>
            </a:r>
            <a:r>
              <a:rPr lang="es-CO" dirty="0"/>
              <a:t> #3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0" name="Rounded Rectangle 25"/>
          <p:cNvSpPr/>
          <p:nvPr/>
        </p:nvSpPr>
        <p:spPr>
          <a:xfrm>
            <a:off x="1666552" y="1671220"/>
            <a:ext cx="9128695" cy="379860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6"/>
          <p:cNvSpPr/>
          <p:nvPr/>
        </p:nvSpPr>
        <p:spPr>
          <a:xfrm>
            <a:off x="1666552" y="5469822"/>
            <a:ext cx="9128695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adroTexto 21"/>
          <p:cNvSpPr txBox="1"/>
          <p:nvPr/>
        </p:nvSpPr>
        <p:spPr>
          <a:xfrm>
            <a:off x="2100232" y="1826262"/>
            <a:ext cx="8424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 Black" panose="020B0A04020102020204" pitchFamily="34" charset="0"/>
              </a:rPr>
              <a:t>Toma de decisiones empresariales</a:t>
            </a:r>
          </a:p>
          <a:p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2100232" y="2400234"/>
            <a:ext cx="8273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ptos" panose="020B0004020202020204"/>
              </a:rPr>
              <a:t>La toma de decisiones empresariales representa el objetivo final del proceso de análisis y visualización de datos, ya que permite utilizar la información obtenida para orientar las acciones de una organización. Un dashboard debe facilitar la comprensión de los principales resultados del negocio y destacar los aspectos que requieren atención. A través de indicadores relacionados con ventas, clientes, ingresos, gastos y rendimiento, los responsables pueden identificar oportunidades, detectar problemas, comparar períodos y evaluar estrategias. De esta manera, el análisis de datos permite tomar decisiones basadas en información confiable y actualizada, reduciendo la dependencia de suposiciones y contribuyendo a una gestión empresarial más eficiente.</a:t>
            </a:r>
            <a:endParaRPr lang="es-CO" sz="1600" dirty="0">
              <a:latin typeface="Aptos" panose="020B0004020202020204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ángulo 2"/>
          <p:cNvSpPr/>
          <p:nvPr/>
        </p:nvSpPr>
        <p:spPr>
          <a:xfrm>
            <a:off x="71021" y="186432"/>
            <a:ext cx="7119891" cy="636528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/>
          <p:cNvSpPr txBox="1"/>
          <p:nvPr/>
        </p:nvSpPr>
        <p:spPr>
          <a:xfrm>
            <a:off x="7190912" y="186433"/>
            <a:ext cx="474067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/>
                </a:solidFill>
                <a:latin typeface="Arial Black" panose="020B0A04020102020204" pitchFamily="34" charset="0"/>
              </a:rPr>
              <a:t>Power Query – Pasos </a:t>
            </a:r>
            <a:r>
              <a:rPr lang="es-MX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aplicados</a:t>
            </a:r>
          </a:p>
          <a:p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revisaron y ajustaron los nombres y tipos de datos de las columnas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reorganizaron las columnas para facilitar el análisis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creó una nueva columna Continente, debido a que la clasificación anterior presentaba inconsistencias, por ejemplo, países asignados al continente incorrecto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Se </a:t>
            </a:r>
            <a:r>
              <a:rPr lang="es-MX" dirty="0">
                <a:latin typeface="Aptos"/>
              </a:rPr>
              <a:t>agregaron tres columnas calculadas para obtener nuevos indicadores:Precio Total: Precio Unitario × Cantidad.Costo Total: Costo Unitario × Cantidad.Utilidad: Precio Total − Costo Total</a:t>
            </a:r>
            <a:r>
              <a:rPr lang="es-MX" dirty="0" smtClean="0">
                <a:latin typeface="Aptos"/>
              </a:rPr>
              <a:t>.</a:t>
            </a:r>
          </a:p>
          <a:p>
            <a:endParaRPr lang="es-MX" dirty="0" smtClean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>
                <a:latin typeface="Aptos"/>
              </a:rPr>
              <a:t>Finalmente</a:t>
            </a:r>
            <a:r>
              <a:rPr lang="es-MX" dirty="0">
                <a:latin typeface="Aptos"/>
              </a:rPr>
              <a:t>, se verificó que los datos quedaran organizados y listos para utilizarlos en el dashboard de Power BI.</a:t>
            </a:r>
            <a:endParaRPr lang="es-CO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9299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6"/>
          <p:cNvSpPr/>
          <p:nvPr/>
        </p:nvSpPr>
        <p:spPr>
          <a:xfrm>
            <a:off x="8309499" y="6480698"/>
            <a:ext cx="3517978" cy="86771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1056442" y="582388"/>
            <a:ext cx="71465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700" b="1" dirty="0">
                <a:latin typeface="Aptos"/>
              </a:rPr>
              <a:t>Columnas y Dax utilizados </a:t>
            </a:r>
            <a:endParaRPr lang="es-CO" sz="2700" b="1" dirty="0">
              <a:latin typeface="Aptos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63480" y="1358283"/>
            <a:ext cx="68358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Ventas = SUM(DataDiaUno[Precio Total])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Costo = SUM(DataDiaUno[Costo Total])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Ganancia Total = [Total Ventas] - [Total Costo]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% Margen = DIVIDE([Ganancia Total], [Total Ventas], 0)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Total Unidades = SUM(DataDiaUno[Cantidad])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Clientes Únicos = DISTINCTCOUNT(DataDiaUno[Nombre cliente])</a:t>
            </a:r>
          </a:p>
          <a:p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Dax Ticket Promedio = DIVIDE([Dax Total Ventas], COUNT(DataDiaUno[Precio Total]))</a:t>
            </a:r>
          </a:p>
        </p:txBody>
      </p:sp>
      <p:sp>
        <p:nvSpPr>
          <p:cNvPr id="8" name="Rectángulo 7"/>
          <p:cNvSpPr/>
          <p:nvPr/>
        </p:nvSpPr>
        <p:spPr>
          <a:xfrm>
            <a:off x="8309499" y="674703"/>
            <a:ext cx="3517978" cy="580599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57620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PÁGINA 1 — VENTAS Y GEOGRAFÍA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</a:t>
            </a:r>
            <a:r>
              <a:rPr dirty="0"/>
              <a:t> </a:t>
            </a:r>
            <a:r>
              <a:rPr dirty="0" err="1"/>
              <a:t>práctic</a:t>
            </a:r>
            <a:r>
              <a:rPr lang="es-CO" dirty="0"/>
              <a:t>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1018520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ángulo redondeado 15"/>
          <p:cNvSpPr/>
          <p:nvPr/>
        </p:nvSpPr>
        <p:spPr>
          <a:xfrm>
            <a:off x="807720" y="1340528"/>
            <a:ext cx="10576560" cy="496261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t>PÁGINA 2 — PRODUCTOS Y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 práctica</a:t>
            </a:r>
          </a:p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8" name="Rounded Rectangle 5"/>
          <p:cNvSpPr/>
          <p:nvPr/>
        </p:nvSpPr>
        <p:spPr>
          <a:xfrm>
            <a:off x="594359" y="1234440"/>
            <a:ext cx="11384281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ángulo redondeado 28"/>
          <p:cNvSpPr/>
          <p:nvPr/>
        </p:nvSpPr>
        <p:spPr>
          <a:xfrm>
            <a:off x="781011" y="1402672"/>
            <a:ext cx="11029989" cy="482057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rPr dirty="0"/>
              <a:t>PÁGINA 3 — ANÁLISIS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MX" dirty="0"/>
              <a:t>Visualización de explicación práctica</a:t>
            </a:r>
          </a:p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2" name="Rounded Rectangle 5"/>
          <p:cNvSpPr/>
          <p:nvPr/>
        </p:nvSpPr>
        <p:spPr>
          <a:xfrm>
            <a:off x="594359" y="1234440"/>
            <a:ext cx="11163301" cy="51937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ángulo redondeado 22"/>
          <p:cNvSpPr/>
          <p:nvPr/>
        </p:nvSpPr>
        <p:spPr>
          <a:xfrm>
            <a:off x="790113" y="1402672"/>
            <a:ext cx="10754187" cy="482057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88775" y="6114539"/>
            <a:ext cx="502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36979A89-1545-6DA0-0F69-687DDAA8BBB4}"/>
              </a:ext>
            </a:extLst>
          </p:cNvPr>
          <p:cNvSpPr/>
          <p:nvPr/>
        </p:nvSpPr>
        <p:spPr>
          <a:xfrm>
            <a:off x="1104999" y="899089"/>
            <a:ext cx="2124777" cy="570297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585B23B-694A-251C-87D0-D64A5EF36B28}"/>
              </a:ext>
            </a:extLst>
          </p:cNvPr>
          <p:cNvSpPr txBox="1"/>
          <p:nvPr/>
        </p:nvSpPr>
        <p:spPr>
          <a:xfrm>
            <a:off x="1346231" y="1036131"/>
            <a:ext cx="164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Costo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02DE7E8-DC2A-C841-4FEB-7692C81B3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61" t="836" r="991" b="84999"/>
          <a:stretch>
            <a:fillRect/>
          </a:stretch>
        </p:blipFill>
        <p:spPr>
          <a:xfrm>
            <a:off x="853039" y="67081"/>
            <a:ext cx="9411101" cy="890457"/>
          </a:xfrm>
          <a:prstGeom prst="rect">
            <a:avLst/>
          </a:prstGeom>
        </p:spPr>
      </p:pic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7E2032FD-C0F8-0150-C72F-6E5B37AB7BB1}"/>
              </a:ext>
            </a:extLst>
          </p:cNvPr>
          <p:cNvSpPr/>
          <p:nvPr/>
        </p:nvSpPr>
        <p:spPr>
          <a:xfrm>
            <a:off x="3413565" y="933847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9C215A3-439F-B292-539E-DA0DB55A3BD4}"/>
              </a:ext>
            </a:extLst>
          </p:cNvPr>
          <p:cNvSpPr txBox="1"/>
          <p:nvPr/>
        </p:nvSpPr>
        <p:spPr>
          <a:xfrm>
            <a:off x="3533570" y="1024619"/>
            <a:ext cx="170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</a:t>
            </a: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38418BD7-9396-0FD9-A4B1-B57BC11835E0}"/>
              </a:ext>
            </a:extLst>
          </p:cNvPr>
          <p:cNvSpPr/>
          <p:nvPr/>
        </p:nvSpPr>
        <p:spPr>
          <a:xfrm>
            <a:off x="5746429" y="958430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36FBC8BA-7B23-D85F-DD8D-521D8D2E80CD}"/>
              </a:ext>
            </a:extLst>
          </p:cNvPr>
          <p:cNvSpPr/>
          <p:nvPr/>
        </p:nvSpPr>
        <p:spPr>
          <a:xfrm>
            <a:off x="8072119" y="945693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Dax Margen %</a:t>
            </a:r>
            <a:endParaRPr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E21DB0-9978-9307-989E-CC3B613870CE}"/>
              </a:ext>
            </a:extLst>
          </p:cNvPr>
          <p:cNvSpPr txBox="1"/>
          <p:nvPr/>
        </p:nvSpPr>
        <p:spPr>
          <a:xfrm>
            <a:off x="5785583" y="1018904"/>
            <a:ext cx="200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Ganancia Total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29FF447-94FB-A55E-54A3-DFE9FE4D8A82}"/>
              </a:ext>
            </a:extLst>
          </p:cNvPr>
          <p:cNvSpPr txBox="1"/>
          <p:nvPr/>
        </p:nvSpPr>
        <p:spPr>
          <a:xfrm>
            <a:off x="8302013" y="1011547"/>
            <a:ext cx="186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Margen %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FD366679-D7DE-679A-0221-B76036F335F4}"/>
              </a:ext>
            </a:extLst>
          </p:cNvPr>
          <p:cNvSpPr/>
          <p:nvPr/>
        </p:nvSpPr>
        <p:spPr>
          <a:xfrm>
            <a:off x="10499493" y="3125929"/>
            <a:ext cx="1497980" cy="38253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656A149A-6B04-B56F-F927-656304565E76}"/>
              </a:ext>
            </a:extLst>
          </p:cNvPr>
          <p:cNvSpPr/>
          <p:nvPr/>
        </p:nvSpPr>
        <p:spPr>
          <a:xfrm>
            <a:off x="10499492" y="1219621"/>
            <a:ext cx="151951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FAC3138A-7A50-3F12-AB22-83AAA3D1AB50}"/>
              </a:ext>
            </a:extLst>
          </p:cNvPr>
          <p:cNvSpPr/>
          <p:nvPr/>
        </p:nvSpPr>
        <p:spPr>
          <a:xfrm>
            <a:off x="10499493" y="6312283"/>
            <a:ext cx="1519517" cy="3693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F5C36E7-ED18-4B86-7012-D92FF4D6D3FD}"/>
              </a:ext>
            </a:extLst>
          </p:cNvPr>
          <p:cNvSpPr txBox="1"/>
          <p:nvPr/>
        </p:nvSpPr>
        <p:spPr>
          <a:xfrm>
            <a:off x="10641863" y="1232820"/>
            <a:ext cx="135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Fecha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445B4B0-4318-A47B-CBBA-9ABDB0B8A7F8}"/>
              </a:ext>
            </a:extLst>
          </p:cNvPr>
          <p:cNvSpPr txBox="1"/>
          <p:nvPr/>
        </p:nvSpPr>
        <p:spPr>
          <a:xfrm>
            <a:off x="10541932" y="3146290"/>
            <a:ext cx="151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Continente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84D8897-7349-A923-2402-E3ED9C96C87E}"/>
              </a:ext>
            </a:extLst>
          </p:cNvPr>
          <p:cNvSpPr txBox="1"/>
          <p:nvPr/>
        </p:nvSpPr>
        <p:spPr>
          <a:xfrm>
            <a:off x="10457583" y="6325059"/>
            <a:ext cx="1616225" cy="372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País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2E0D746D-6F1C-09A1-DA3D-FC7D2357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" t="54231" r="79964" b="31605"/>
          <a:stretch>
            <a:fillRect/>
          </a:stretch>
        </p:blipFill>
        <p:spPr>
          <a:xfrm>
            <a:off x="166328" y="1813518"/>
            <a:ext cx="2001058" cy="890457"/>
          </a:xfrm>
          <a:prstGeom prst="rect">
            <a:avLst/>
          </a:prstGeom>
        </p:spPr>
      </p:pic>
      <p:pic>
        <p:nvPicPr>
          <p:cNvPr id="51" name="Imagen 5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9B0EF57-B48A-994F-B36E-59FE74CE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6" t="68823" r="80198" b="17012"/>
          <a:stretch>
            <a:fillRect/>
          </a:stretch>
        </p:blipFill>
        <p:spPr>
          <a:xfrm>
            <a:off x="166328" y="3517308"/>
            <a:ext cx="2001058" cy="890457"/>
          </a:xfrm>
          <a:prstGeom prst="rect">
            <a:avLst/>
          </a:prstGeom>
        </p:spPr>
      </p:pic>
      <p:pic>
        <p:nvPicPr>
          <p:cNvPr id="53" name="Imagen 5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9EAD42F-36A3-D20F-87CA-2F541321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" t="83369" r="80198" b="2467"/>
          <a:stretch>
            <a:fillRect/>
          </a:stretch>
        </p:blipFill>
        <p:spPr>
          <a:xfrm>
            <a:off x="176308" y="5221098"/>
            <a:ext cx="1991078" cy="890458"/>
          </a:xfrm>
          <a:prstGeom prst="rect">
            <a:avLst/>
          </a:prstGeom>
        </p:spPr>
      </p:pic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C3116993-9133-B336-1FF2-F7C70475B10A}"/>
              </a:ext>
            </a:extLst>
          </p:cNvPr>
          <p:cNvSpPr/>
          <p:nvPr/>
        </p:nvSpPr>
        <p:spPr>
          <a:xfrm>
            <a:off x="176308" y="2657101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3F408DDA-BEEB-3172-8EDB-B99823002D77}"/>
              </a:ext>
            </a:extLst>
          </p:cNvPr>
          <p:cNvSpPr/>
          <p:nvPr/>
        </p:nvSpPr>
        <p:spPr>
          <a:xfrm>
            <a:off x="176308" y="6041019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9AE4986E-7145-7163-E349-A45A2CAC19FA}"/>
              </a:ext>
            </a:extLst>
          </p:cNvPr>
          <p:cNvSpPr/>
          <p:nvPr/>
        </p:nvSpPr>
        <p:spPr>
          <a:xfrm>
            <a:off x="176308" y="4342655"/>
            <a:ext cx="2001057" cy="52473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Dax Margen %</a:t>
            </a:r>
            <a:endParaRPr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15F29FC-4736-FB42-7454-4AD727EC48D5}"/>
              </a:ext>
            </a:extLst>
          </p:cNvPr>
          <p:cNvSpPr txBox="1"/>
          <p:nvPr/>
        </p:nvSpPr>
        <p:spPr>
          <a:xfrm>
            <a:off x="176308" y="2730387"/>
            <a:ext cx="206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Producto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C05BB88-B8A9-9E58-A5E9-8ED6B9AF51D2}"/>
              </a:ext>
            </a:extLst>
          </p:cNvPr>
          <p:cNvSpPr txBox="1"/>
          <p:nvPr/>
        </p:nvSpPr>
        <p:spPr>
          <a:xfrm>
            <a:off x="176308" y="4460194"/>
            <a:ext cx="218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Unidades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62C6EDC-1D09-B4E1-553E-39DC7489873C}"/>
              </a:ext>
            </a:extLst>
          </p:cNvPr>
          <p:cNvSpPr txBox="1"/>
          <p:nvPr/>
        </p:nvSpPr>
        <p:spPr>
          <a:xfrm>
            <a:off x="218071" y="6107886"/>
            <a:ext cx="184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Dax total ventas</a:t>
            </a:r>
            <a:endParaRPr lang="es-CO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B1DA1B1C-D8E8-EB78-262D-F76549CC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5" t="17329" r="10560" b="52868"/>
          <a:stretch>
            <a:fillRect/>
          </a:stretch>
        </p:blipFill>
        <p:spPr>
          <a:xfrm>
            <a:off x="2593701" y="1561756"/>
            <a:ext cx="7112274" cy="1733894"/>
          </a:xfrm>
          <a:prstGeom prst="rect">
            <a:avLst/>
          </a:prstGeom>
        </p:spPr>
      </p:pic>
      <p:pic>
        <p:nvPicPr>
          <p:cNvPr id="63" name="Imagen 6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B505D84-370E-BEAA-BE72-11FA9DBB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4" t="48940" r="50496" b="692"/>
          <a:stretch>
            <a:fillRect/>
          </a:stretch>
        </p:blipFill>
        <p:spPr>
          <a:xfrm>
            <a:off x="2549773" y="3695489"/>
            <a:ext cx="3245224" cy="3166344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DB4C8739-BB0A-72DB-2163-0C83FB9D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88" t="17444" r="674" b="64913"/>
          <a:stretch>
            <a:fillRect/>
          </a:stretch>
        </p:blipFill>
        <p:spPr>
          <a:xfrm>
            <a:off x="10770061" y="139074"/>
            <a:ext cx="1107509" cy="1109138"/>
          </a:xfrm>
          <a:prstGeom prst="rect">
            <a:avLst/>
          </a:prstGeom>
        </p:spPr>
      </p:pic>
      <p:pic>
        <p:nvPicPr>
          <p:cNvPr id="67" name="Imagen 6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8ABA2B2-A4CF-C13D-560F-ED8CEEAB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63" t="34647" r="496" b="42692"/>
          <a:stretch>
            <a:fillRect/>
          </a:stretch>
        </p:blipFill>
        <p:spPr>
          <a:xfrm>
            <a:off x="10770061" y="1701335"/>
            <a:ext cx="1063261" cy="1424593"/>
          </a:xfrm>
          <a:prstGeom prst="rect">
            <a:avLst/>
          </a:prstGeom>
        </p:spPr>
      </p:pic>
      <p:pic>
        <p:nvPicPr>
          <p:cNvPr id="69" name="Imagen 6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9837AA9-7B02-2571-0371-B28305EE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641" t="56465" r="495"/>
          <a:stretch>
            <a:fillRect/>
          </a:stretch>
        </p:blipFill>
        <p:spPr>
          <a:xfrm>
            <a:off x="10711624" y="3603521"/>
            <a:ext cx="1099214" cy="2736811"/>
          </a:xfrm>
          <a:prstGeom prst="rect">
            <a:avLst/>
          </a:prstGeom>
        </p:spPr>
      </p:pic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F0723C5C-768E-8D6E-1304-3DD923F58C0C}"/>
              </a:ext>
            </a:extLst>
          </p:cNvPr>
          <p:cNvSpPr/>
          <p:nvPr/>
        </p:nvSpPr>
        <p:spPr>
          <a:xfrm>
            <a:off x="3016771" y="3736545"/>
            <a:ext cx="267408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Rounded Rectangle 5">
            <a:extLst>
              <a:ext uri="{FF2B5EF4-FFF2-40B4-BE49-F238E27FC236}">
                <a16:creationId xmlns:a16="http://schemas.microsoft.com/office/drawing/2014/main" id="{A6210BD5-3F46-F141-FE58-7FE06C666813}"/>
              </a:ext>
            </a:extLst>
          </p:cNvPr>
          <p:cNvSpPr/>
          <p:nvPr/>
        </p:nvSpPr>
        <p:spPr>
          <a:xfrm>
            <a:off x="4068398" y="1537173"/>
            <a:ext cx="4339002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BDA0261-C970-24EE-2A6A-19C2FD4A2EE7}"/>
              </a:ext>
            </a:extLst>
          </p:cNvPr>
          <p:cNvSpPr txBox="1"/>
          <p:nvPr/>
        </p:nvSpPr>
        <p:spPr>
          <a:xfrm>
            <a:off x="4089936" y="1539496"/>
            <a:ext cx="4339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Ganancia Total, Fecha y Dax total ventas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2D380B5-E86B-A997-21C4-809E5A9B8B87}"/>
              </a:ext>
            </a:extLst>
          </p:cNvPr>
          <p:cNvSpPr txBox="1"/>
          <p:nvPr/>
        </p:nvSpPr>
        <p:spPr>
          <a:xfrm>
            <a:off x="3121063" y="3716794"/>
            <a:ext cx="253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0348F1EB-1C10-34F9-31E1-3A50B2361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86" t="49332" r="10133"/>
          <a:stretch>
            <a:fillRect/>
          </a:stretch>
        </p:blipFill>
        <p:spPr>
          <a:xfrm>
            <a:off x="6135134" y="3703286"/>
            <a:ext cx="4232041" cy="3106045"/>
          </a:xfrm>
          <a:prstGeom prst="rect">
            <a:avLst/>
          </a:prstGeom>
        </p:spPr>
      </p:pic>
      <p:sp>
        <p:nvSpPr>
          <p:cNvPr id="79" name="Rounded Rectangle 5">
            <a:extLst>
              <a:ext uri="{FF2B5EF4-FFF2-40B4-BE49-F238E27FC236}">
                <a16:creationId xmlns:a16="http://schemas.microsoft.com/office/drawing/2014/main" id="{6884A282-9BC5-137A-1FBC-958278DB674A}"/>
              </a:ext>
            </a:extLst>
          </p:cNvPr>
          <p:cNvSpPr/>
          <p:nvPr/>
        </p:nvSpPr>
        <p:spPr>
          <a:xfrm>
            <a:off x="6191130" y="3707328"/>
            <a:ext cx="267408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E2A511B-5D93-6DD6-2894-DE55E562DFE5}"/>
              </a:ext>
            </a:extLst>
          </p:cNvPr>
          <p:cNvSpPr txBox="1"/>
          <p:nvPr/>
        </p:nvSpPr>
        <p:spPr>
          <a:xfrm>
            <a:off x="6376920" y="3713387"/>
            <a:ext cx="253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pic>
        <p:nvPicPr>
          <p:cNvPr id="82" name="Imagen 81">
            <a:extLst>
              <a:ext uri="{FF2B5EF4-FFF2-40B4-BE49-F238E27FC236}">
                <a16:creationId xmlns:a16="http://schemas.microsoft.com/office/drawing/2014/main" id="{E3700820-C1F9-99D8-6868-C159CDCA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075353" y="5164345"/>
            <a:ext cx="1505160" cy="228632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9C03D9FC-3556-2795-8B46-5B3D2DBEE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262" y="3693136"/>
            <a:ext cx="438211" cy="295316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90624144-D310-3020-9C7A-8B4973284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891" y="1640953"/>
            <a:ext cx="924054" cy="238158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C19AB92F-ECEF-3F94-E40E-B1B5C396B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141" y="69242"/>
            <a:ext cx="409632" cy="238158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50B313EB-7585-9C2E-210A-3C2CCAEEA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996" y="54600"/>
            <a:ext cx="409632" cy="238158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DE1D7A8A-F20A-6DC6-D48A-FD73D4C35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006" y="41023"/>
            <a:ext cx="409632" cy="238158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FD020B01-FEAB-B913-104B-AF133CE35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20" y="5124548"/>
            <a:ext cx="409632" cy="238158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FF0C8B2D-FB3E-EC8A-F5AE-9E58B113F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82" y="3469170"/>
            <a:ext cx="409632" cy="238158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32BEFF69-D049-F160-0846-A80B73619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20" y="1832128"/>
            <a:ext cx="409632" cy="238158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0635C209-CD41-5D05-538E-214ACAABA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102" y="56428"/>
            <a:ext cx="409632" cy="238158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50F02AF1-B835-4036-D9BD-11677F41A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613" y="82164"/>
            <a:ext cx="1286054" cy="23815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45CD71CA-E0B1-9C77-F0AA-CEAD7CFE3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1231" y="1722007"/>
            <a:ext cx="1286054" cy="18498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6F1DB655-04ED-3A9B-DA59-F4A4AB1462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5940" y="3564665"/>
            <a:ext cx="1286054" cy="238158"/>
          </a:xfrm>
          <a:prstGeom prst="rect">
            <a:avLst/>
          </a:prstGeom>
        </p:spPr>
      </p:pic>
      <p:sp>
        <p:nvSpPr>
          <p:cNvPr id="107" name="TextBox 3">
            <a:extLst>
              <a:ext uri="{FF2B5EF4-FFF2-40B4-BE49-F238E27FC236}">
                <a16:creationId xmlns:a16="http://schemas.microsoft.com/office/drawing/2014/main" id="{4CFE4FD1-6301-8FE7-A46F-25952BF887AB}"/>
              </a:ext>
            </a:extLst>
          </p:cNvPr>
          <p:cNvSpPr txBox="1"/>
          <p:nvPr/>
        </p:nvSpPr>
        <p:spPr>
          <a:xfrm>
            <a:off x="3808302" y="3177517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6C7F71B-F80A-C2EA-7D40-01C928EA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" t="18635" r="81508" b="67062"/>
          <a:stretch>
            <a:fillRect/>
          </a:stretch>
        </p:blipFill>
        <p:spPr>
          <a:xfrm>
            <a:off x="264908" y="254418"/>
            <a:ext cx="2030504" cy="892347"/>
          </a:xfrm>
          <a:prstGeom prst="rect">
            <a:avLst/>
          </a:prstGeom>
        </p:spPr>
      </p:pic>
      <p:pic>
        <p:nvPicPr>
          <p:cNvPr id="25" name="Imagen 2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042162A-E119-0B8F-9A07-74ECEDC6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38" r="81654" b="51759"/>
          <a:stretch>
            <a:fillRect/>
          </a:stretch>
        </p:blipFill>
        <p:spPr>
          <a:xfrm>
            <a:off x="264908" y="1654795"/>
            <a:ext cx="2030504" cy="954741"/>
          </a:xfrm>
          <a:prstGeom prst="rect">
            <a:avLst/>
          </a:prstGeom>
        </p:spPr>
      </p:pic>
      <p:pic>
        <p:nvPicPr>
          <p:cNvPr id="27" name="Imagen 2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4E0C203-E977-BD61-7FE1-4A05CF5B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28" t="1935" r="3022" b="50000"/>
          <a:stretch>
            <a:fillRect/>
          </a:stretch>
        </p:blipFill>
        <p:spPr>
          <a:xfrm>
            <a:off x="2716304" y="228600"/>
            <a:ext cx="9313435" cy="2880089"/>
          </a:xfrm>
          <a:prstGeom prst="rect">
            <a:avLst/>
          </a:prstGeom>
        </p:spPr>
      </p:pic>
      <p:pic>
        <p:nvPicPr>
          <p:cNvPr id="29" name="Imagen 2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951E027-A0FC-86B1-669F-C6CB698E1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0" t="50000" r="83493" b="24713"/>
          <a:stretch>
            <a:fillRect/>
          </a:stretch>
        </p:blipFill>
        <p:spPr>
          <a:xfrm>
            <a:off x="284181" y="3178076"/>
            <a:ext cx="1841351" cy="1577610"/>
          </a:xfrm>
          <a:prstGeom prst="rect">
            <a:avLst/>
          </a:prstGeom>
        </p:spPr>
      </p:pic>
      <p:pic>
        <p:nvPicPr>
          <p:cNvPr id="31" name="Imagen 30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6509AF5-8BA7-8043-6667-2C740444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7" t="49780" r="68419" b="27158"/>
          <a:stretch>
            <a:fillRect/>
          </a:stretch>
        </p:blipFill>
        <p:spPr>
          <a:xfrm>
            <a:off x="2454759" y="3247463"/>
            <a:ext cx="1779047" cy="1438836"/>
          </a:xfrm>
          <a:prstGeom prst="rect">
            <a:avLst/>
          </a:prstGeom>
        </p:spPr>
      </p:pic>
      <p:pic>
        <p:nvPicPr>
          <p:cNvPr id="33" name="Imagen 3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EABEB11-0D90-F116-8FDD-21B6B1D6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71" t="50000" r="1565" b="3013"/>
          <a:stretch>
            <a:fillRect/>
          </a:stretch>
        </p:blipFill>
        <p:spPr>
          <a:xfrm>
            <a:off x="4487730" y="3429000"/>
            <a:ext cx="7422777" cy="2931460"/>
          </a:xfrm>
          <a:prstGeom prst="rect">
            <a:avLst/>
          </a:prstGeom>
        </p:spPr>
      </p:pic>
      <p:pic>
        <p:nvPicPr>
          <p:cNvPr id="35" name="Imagen 3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090BB8A-CBAB-98C7-7E8A-88DB7497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631" r="68751" b="4306"/>
          <a:stretch>
            <a:fillRect/>
          </a:stretch>
        </p:blipFill>
        <p:spPr>
          <a:xfrm>
            <a:off x="199240" y="5037486"/>
            <a:ext cx="3458696" cy="1438836"/>
          </a:xfrm>
          <a:prstGeom prst="rect">
            <a:avLst/>
          </a:prstGeom>
        </p:spPr>
      </p:pic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F37EA4D6-4F90-6ED8-4600-32568DED784A}"/>
              </a:ext>
            </a:extLst>
          </p:cNvPr>
          <p:cNvSpPr/>
          <p:nvPr/>
        </p:nvSpPr>
        <p:spPr>
          <a:xfrm>
            <a:off x="5264521" y="318060"/>
            <a:ext cx="5791053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9A3A2FC6-6001-1ABE-B44F-446F6740F12C}"/>
              </a:ext>
            </a:extLst>
          </p:cNvPr>
          <p:cNvSpPr/>
          <p:nvPr/>
        </p:nvSpPr>
        <p:spPr>
          <a:xfrm>
            <a:off x="220532" y="1065448"/>
            <a:ext cx="217057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F5EB124-58E9-1C13-8C6D-533A7EE87065}"/>
              </a:ext>
            </a:extLst>
          </p:cNvPr>
          <p:cNvSpPr txBox="1"/>
          <p:nvPr/>
        </p:nvSpPr>
        <p:spPr>
          <a:xfrm>
            <a:off x="5365375" y="335996"/>
            <a:ext cx="558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ventas, Marca, Nombre Producto y Subcategoría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BA84B67E-B025-00FE-29EB-683B4934DFDB}"/>
              </a:ext>
            </a:extLst>
          </p:cNvPr>
          <p:cNvSpPr/>
          <p:nvPr/>
        </p:nvSpPr>
        <p:spPr>
          <a:xfrm>
            <a:off x="199240" y="4555900"/>
            <a:ext cx="2011231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90EF67BF-03A1-5693-5680-8628CBA8B9CE}"/>
              </a:ext>
            </a:extLst>
          </p:cNvPr>
          <p:cNvSpPr/>
          <p:nvPr/>
        </p:nvSpPr>
        <p:spPr>
          <a:xfrm>
            <a:off x="220533" y="2498952"/>
            <a:ext cx="2170578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EF51B33E-0357-F2AB-5608-C36A40A46509}"/>
              </a:ext>
            </a:extLst>
          </p:cNvPr>
          <p:cNvSpPr/>
          <p:nvPr/>
        </p:nvSpPr>
        <p:spPr>
          <a:xfrm>
            <a:off x="2295412" y="4585714"/>
            <a:ext cx="2011231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AE78C121-CA45-7B92-8C29-7FD2AB0771A8}"/>
              </a:ext>
            </a:extLst>
          </p:cNvPr>
          <p:cNvSpPr/>
          <p:nvPr/>
        </p:nvSpPr>
        <p:spPr>
          <a:xfrm>
            <a:off x="443528" y="6448576"/>
            <a:ext cx="2783766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0931442-F8AD-D703-BD52-0DF771473A4A}"/>
              </a:ext>
            </a:extLst>
          </p:cNvPr>
          <p:cNvSpPr txBox="1"/>
          <p:nvPr/>
        </p:nvSpPr>
        <p:spPr>
          <a:xfrm>
            <a:off x="243167" y="1065448"/>
            <a:ext cx="227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Ticket Promedio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9B11ECF-427E-1133-F8ED-29B8EE4B5F4B}"/>
              </a:ext>
            </a:extLst>
          </p:cNvPr>
          <p:cNvSpPr txBox="1"/>
          <p:nvPr/>
        </p:nvSpPr>
        <p:spPr>
          <a:xfrm>
            <a:off x="270958" y="2528576"/>
            <a:ext cx="201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Clientes Únicos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5AEA438-5F85-680A-8232-F7E1986AFB5B}"/>
              </a:ext>
            </a:extLst>
          </p:cNvPr>
          <p:cNvSpPr txBox="1"/>
          <p:nvPr/>
        </p:nvSpPr>
        <p:spPr>
          <a:xfrm>
            <a:off x="443528" y="4562499"/>
            <a:ext cx="159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Subcategoría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389B63-0C7E-711F-B9BA-CBA8DC673189}"/>
              </a:ext>
            </a:extLst>
          </p:cNvPr>
          <p:cNvSpPr txBox="1"/>
          <p:nvPr/>
        </p:nvSpPr>
        <p:spPr>
          <a:xfrm>
            <a:off x="2871619" y="4578741"/>
            <a:ext cx="104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Marca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AC503FC-8017-86EC-BB10-7CFE30F74DB0}"/>
              </a:ext>
            </a:extLst>
          </p:cNvPr>
          <p:cNvSpPr txBox="1"/>
          <p:nvPr/>
        </p:nvSpPr>
        <p:spPr>
          <a:xfrm>
            <a:off x="685800" y="6476322"/>
            <a:ext cx="218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Producto</a:t>
            </a:r>
          </a:p>
        </p:txBody>
      </p:sp>
      <p:sp>
        <p:nvSpPr>
          <p:cNvPr id="51" name="Rounded Rectangle 5">
            <a:extLst>
              <a:ext uri="{FF2B5EF4-FFF2-40B4-BE49-F238E27FC236}">
                <a16:creationId xmlns:a16="http://schemas.microsoft.com/office/drawing/2014/main" id="{1712255E-DCF2-479F-B6EB-DFAD2A693A85}"/>
              </a:ext>
            </a:extLst>
          </p:cNvPr>
          <p:cNvSpPr/>
          <p:nvPr/>
        </p:nvSpPr>
        <p:spPr>
          <a:xfrm>
            <a:off x="5791345" y="3366781"/>
            <a:ext cx="4171805" cy="3825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9B5C70D-95CA-EFAC-B14D-F58D3F3D2DE3}"/>
              </a:ext>
            </a:extLst>
          </p:cNvPr>
          <p:cNvSpPr txBox="1"/>
          <p:nvPr/>
        </p:nvSpPr>
        <p:spPr>
          <a:xfrm>
            <a:off x="6226395" y="3361228"/>
            <a:ext cx="386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Nombre cliente</a:t>
            </a: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E1DCA595-909D-C0E2-F009-8F861D8BA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6" y="1542628"/>
            <a:ext cx="523948" cy="257211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DBBFC77C-B7E7-C2E3-921A-453C4FEF5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99" y="136971"/>
            <a:ext cx="523948" cy="257211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2D161A60-2047-E251-B439-D774E7C82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921" y="3207744"/>
            <a:ext cx="1286054" cy="238158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D7AD2498-6942-A838-27AD-6C0A4E374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9" y="3161651"/>
            <a:ext cx="1286054" cy="238158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FC53A5F8-2F6E-68E7-7A33-2CC223F99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056" y="5104040"/>
            <a:ext cx="1286054" cy="238158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1FF2102B-E9C8-CDCA-A69D-B580E262F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303" y="2726337"/>
            <a:ext cx="1714739" cy="285790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149A78E7-82E1-B633-3D67-36037A7ED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801" y="6146661"/>
            <a:ext cx="1562318" cy="247685"/>
          </a:xfrm>
          <a:prstGeom prst="rect">
            <a:avLst/>
          </a:prstGeom>
        </p:spPr>
      </p:pic>
      <p:sp>
        <p:nvSpPr>
          <p:cNvPr id="66" name="TextBox 3">
            <a:extLst>
              <a:ext uri="{FF2B5EF4-FFF2-40B4-BE49-F238E27FC236}">
                <a16:creationId xmlns:a16="http://schemas.microsoft.com/office/drawing/2014/main" id="{8130C503-1365-4412-0D19-D5B2887558C5}"/>
              </a:ext>
            </a:extLst>
          </p:cNvPr>
          <p:cNvSpPr txBox="1"/>
          <p:nvPr/>
        </p:nvSpPr>
        <p:spPr>
          <a:xfrm>
            <a:off x="4583777" y="6288480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23" name="Imagen 2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6C4E5BD-E7D8-7693-0BAB-11D33BDA7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7" t="8504" r="43454" b="42993"/>
          <a:stretch>
            <a:fillRect/>
          </a:stretch>
        </p:blipFill>
        <p:spPr>
          <a:xfrm>
            <a:off x="393699" y="279908"/>
            <a:ext cx="6134100" cy="2989072"/>
          </a:xfrm>
          <a:prstGeom prst="rect">
            <a:avLst/>
          </a:prstGeom>
        </p:spPr>
      </p:pic>
      <p:pic>
        <p:nvPicPr>
          <p:cNvPr id="25" name="Imagen 2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00F2A93-CC48-503B-B4EF-50680B75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" t="57643" r="43325" b="1635"/>
          <a:stretch>
            <a:fillRect/>
          </a:stretch>
        </p:blipFill>
        <p:spPr>
          <a:xfrm>
            <a:off x="393699" y="3795522"/>
            <a:ext cx="6146801" cy="2503932"/>
          </a:xfrm>
          <a:prstGeom prst="rect">
            <a:avLst/>
          </a:prstGeom>
        </p:spPr>
      </p:pic>
      <p:pic>
        <p:nvPicPr>
          <p:cNvPr id="27" name="Imagen 2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45CC002-D2B0-6FC6-B842-D915ED8F5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61" t="1571" b="1332"/>
          <a:stretch>
            <a:fillRect/>
          </a:stretch>
        </p:blipFill>
        <p:spPr>
          <a:xfrm>
            <a:off x="7005640" y="228600"/>
            <a:ext cx="4792661" cy="5983732"/>
          </a:xfrm>
          <a:prstGeom prst="rect">
            <a:avLst/>
          </a:prstGeom>
        </p:spPr>
      </p:pic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689BC940-0FF1-3573-C302-D243B3DF4B5E}"/>
              </a:ext>
            </a:extLst>
          </p:cNvPr>
          <p:cNvSpPr/>
          <p:nvPr/>
        </p:nvSpPr>
        <p:spPr>
          <a:xfrm>
            <a:off x="2067719" y="109728"/>
            <a:ext cx="2603502" cy="5156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6948A4E-5D9A-28A7-99C6-3B9758CB8F4E}"/>
              </a:ext>
            </a:extLst>
          </p:cNvPr>
          <p:cNvSpPr txBox="1"/>
          <p:nvPr/>
        </p:nvSpPr>
        <p:spPr>
          <a:xfrm>
            <a:off x="2143920" y="204232"/>
            <a:ext cx="245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Dax Total Ventas y País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509BD310-0EB6-0B97-9733-0B858641BDF0}"/>
              </a:ext>
            </a:extLst>
          </p:cNvPr>
          <p:cNvSpPr/>
          <p:nvPr/>
        </p:nvSpPr>
        <p:spPr>
          <a:xfrm>
            <a:off x="2628900" y="3743738"/>
            <a:ext cx="3314700" cy="5156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8118675-795E-5C8B-2C42-78EB4AEBD503}"/>
              </a:ext>
            </a:extLst>
          </p:cNvPr>
          <p:cNvSpPr txBox="1"/>
          <p:nvPr/>
        </p:nvSpPr>
        <p:spPr>
          <a:xfrm>
            <a:off x="2771381" y="3819144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Continente y Dax Total Ventas</a:t>
            </a: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85CE1099-BA12-0AF7-6C7C-1F3C7D612E40}"/>
              </a:ext>
            </a:extLst>
          </p:cNvPr>
          <p:cNvSpPr/>
          <p:nvPr/>
        </p:nvSpPr>
        <p:spPr>
          <a:xfrm>
            <a:off x="7018341" y="5942870"/>
            <a:ext cx="4779960" cy="68653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3D8B559-40CB-C08F-306B-ABE2AEED34B9}"/>
              </a:ext>
            </a:extLst>
          </p:cNvPr>
          <p:cNvSpPr txBox="1"/>
          <p:nvPr/>
        </p:nvSpPr>
        <p:spPr>
          <a:xfrm>
            <a:off x="6862131" y="5997117"/>
            <a:ext cx="493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Dax Total Ventas, Marca, Nombre Producto y Subcategoría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B7AE3F11-B72A-3C20-7BC7-25930EA861C0}"/>
              </a:ext>
            </a:extLst>
          </p:cNvPr>
          <p:cNvSpPr txBox="1"/>
          <p:nvPr/>
        </p:nvSpPr>
        <p:spPr>
          <a:xfrm>
            <a:off x="393699" y="3227780"/>
            <a:ext cx="495870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Construcc</a:t>
            </a:r>
            <a:r>
              <a:rPr lang="es-CO" dirty="0" err="1"/>
              <a:t>ión</a:t>
            </a:r>
            <a:r>
              <a:rPr dirty="0"/>
              <a:t> del dashboard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B64C5BD7-BC13-642A-AE72-B33BB6422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70" y="388898"/>
            <a:ext cx="609685" cy="257211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65D0A945-F2E1-0EB8-66FB-AD4EEA94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11" y="5938993"/>
            <a:ext cx="990738" cy="20005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A4B00B26-3C82-C5ED-A748-A2D406E48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8854" y="5659139"/>
            <a:ext cx="1162212" cy="219106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876" y="1600837"/>
            <a:ext cx="7141972" cy="3402963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766192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1342" y="1683487"/>
            <a:ext cx="6543040" cy="31239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Estabilidad Temporal y Rentabilidad</a:t>
            </a:r>
            <a:r>
              <a:rPr lang="es-ES" b="1" dirty="0"/>
              <a:t>:</a:t>
            </a:r>
            <a:r>
              <a:rPr lang="es-ES" dirty="0">
                <a:latin typeface="Aptos" panose="020B0004020202020204" pitchFamily="34" charset="0"/>
              </a:rPr>
              <a:t> Las ventas y la ganancia total muestran un comportamiento estable entre 2020 y 2023, con un margen constante del 46% y una ganancia acumulada de $1,73 millones sobre $3,80 millones en ventas registradas.</a:t>
            </a:r>
          </a:p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Diversificación Global:</a:t>
            </a:r>
            <a:r>
              <a:rPr lang="es-ES" dirty="0"/>
              <a:t> </a:t>
            </a:r>
            <a:r>
              <a:rPr lang="es-ES" dirty="0">
                <a:latin typeface="Aptos" panose="020B0004020202020204" pitchFamily="34" charset="0"/>
              </a:rPr>
              <a:t>La distribución geográfica de ingresos es homogénea entre los principales mercados (liderados por Malasia, Japón y España con ~$12,5 millones cada uno), lo que indica una baja dependencia de un único país.</a:t>
            </a:r>
          </a:p>
          <a:p>
            <a:pPr algn="l">
              <a:defRPr sz="1700" b="0">
                <a:solidFill>
                  <a:srgbClr val="2B353F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A7F4BEE0-26DA-C921-572E-06AE56C0EFDF}"/>
              </a:ext>
            </a:extLst>
          </p:cNvPr>
          <p:cNvSpPr txBox="1"/>
          <p:nvPr/>
        </p:nvSpPr>
        <p:spPr>
          <a:xfrm>
            <a:off x="594360" y="32004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ES" sz="1000" b="1" dirty="0"/>
              <a:t>Ventas y Distribución Geográfica</a:t>
            </a:r>
            <a:endParaRPr sz="1000" dirty="0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7FA43C7-84D9-D4FC-863F-186C54615623}"/>
              </a:ext>
            </a:extLst>
          </p:cNvPr>
          <p:cNvSpPr/>
          <p:nvPr/>
        </p:nvSpPr>
        <p:spPr>
          <a:xfrm>
            <a:off x="8924038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00" b="1" dirty="0"/>
              <a:t> Productos y Clientes</a:t>
            </a:r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A73F1BC-020E-1F68-23D9-AF856587CAD4}"/>
              </a:ext>
            </a:extLst>
          </p:cNvPr>
          <p:cNvSpPr txBox="1"/>
          <p:nvPr/>
        </p:nvSpPr>
        <p:spPr>
          <a:xfrm>
            <a:off x="746760" y="6172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#2</a:t>
            </a:r>
            <a:endParaRPr dirty="0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FA6C3CC-9A06-A773-AC4E-8104EEB4CBB4}"/>
              </a:ext>
            </a:extLst>
          </p:cNvPr>
          <p:cNvSpPr/>
          <p:nvPr/>
        </p:nvSpPr>
        <p:spPr>
          <a:xfrm>
            <a:off x="1749476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349E1F89-2A40-328A-146F-122F9A30E7A1}"/>
              </a:ext>
            </a:extLst>
          </p:cNvPr>
          <p:cNvSpPr/>
          <p:nvPr/>
        </p:nvSpPr>
        <p:spPr>
          <a:xfrm>
            <a:off x="1801876" y="1600838"/>
            <a:ext cx="7141972" cy="308546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DF340DCE-9EE6-50C7-7EFF-B2F75008B40F}"/>
              </a:ext>
            </a:extLst>
          </p:cNvPr>
          <p:cNvSpPr txBox="1"/>
          <p:nvPr/>
        </p:nvSpPr>
        <p:spPr>
          <a:xfrm>
            <a:off x="2101342" y="1614176"/>
            <a:ext cx="65430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lang="es-ES" dirty="0"/>
          </a:p>
          <a:p>
            <a:pPr algn="l">
              <a:defRPr sz="1700" b="0">
                <a:solidFill>
                  <a:srgbClr val="2B353F"/>
                </a:solidFill>
                <a:latin typeface="Aptos"/>
              </a:defRPr>
            </a:pPr>
            <a:endParaRPr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C78365-45BE-81EE-8BA7-AB729C04552A}"/>
              </a:ext>
            </a:extLst>
          </p:cNvPr>
          <p:cNvSpPr txBox="1"/>
          <p:nvPr/>
        </p:nvSpPr>
        <p:spPr>
          <a:xfrm>
            <a:off x="2087980" y="2245118"/>
            <a:ext cx="6146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Arial Black" panose="020B0A04020102020204" pitchFamily="34" charset="0"/>
              </a:rPr>
              <a:t>Categorías LÍderes en Facturación: </a:t>
            </a:r>
          </a:p>
          <a:p>
            <a:r>
              <a:rPr lang="es-ES" sz="1800" dirty="0">
                <a:effectLst/>
                <a:latin typeface="Aptos" panose="020B0004020202020204" pitchFamily="34" charset="0"/>
              </a:rPr>
              <a:t>Las subcategorías de </a:t>
            </a:r>
            <a:r>
              <a:rPr lang="es-ES" sz="1800" b="1" dirty="0">
                <a:effectLst/>
                <a:latin typeface="Aptos" panose="020B0004020202020204" pitchFamily="34" charset="0"/>
              </a:rPr>
              <a:t>Carnes</a:t>
            </a:r>
            <a:r>
              <a:rPr lang="es-ES" sz="1800" dirty="0">
                <a:effectLst/>
                <a:latin typeface="Aptos" panose="020B0004020202020204" pitchFamily="34" charset="0"/>
              </a:rPr>
              <a:t> (encabezada por marcas como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FlexiFusion</a:t>
            </a:r>
            <a:r>
              <a:rPr lang="es-ES" sz="1800" dirty="0">
                <a:effectLst/>
                <a:latin typeface="Aptos" panose="020B0004020202020204" pitchFamily="34" charset="0"/>
              </a:rPr>
              <a:t> y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AquaLume</a:t>
            </a:r>
            <a:r>
              <a:rPr lang="es-ES" sz="1800" dirty="0">
                <a:effectLst/>
                <a:latin typeface="Aptos" panose="020B0004020202020204" pitchFamily="34" charset="0"/>
              </a:rPr>
              <a:t>) y </a:t>
            </a:r>
            <a:r>
              <a:rPr lang="es-ES" sz="1800" b="1" dirty="0">
                <a:effectLst/>
                <a:latin typeface="Aptos" panose="020B0004020202020204" pitchFamily="34" charset="0"/>
              </a:rPr>
              <a:t>Vegetales</a:t>
            </a:r>
            <a:r>
              <a:rPr lang="es-ES" sz="1800" dirty="0">
                <a:effectLst/>
                <a:latin typeface="Aptos" panose="020B0004020202020204" pitchFamily="34" charset="0"/>
              </a:rPr>
              <a:t> registran los picos más altos de ventas individuales (~$11,8 mill. y $11,5 mill. respectivamente), superando a categorías secundarias como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Condimentos</a:t>
            </a:r>
            <a:r>
              <a:rPr lang="es-ES" sz="1800" dirty="0">
                <a:effectLst/>
                <a:latin typeface="Aptos" panose="020B0004020202020204" pitchFamily="34" charset="0"/>
              </a:rPr>
              <a:t> o </a:t>
            </a:r>
            <a:r>
              <a:rPr lang="es-ES" sz="1800" i="1" dirty="0">
                <a:effectLst/>
                <a:latin typeface="Aptos" panose="020B0004020202020204" pitchFamily="34" charset="0"/>
              </a:rPr>
              <a:t>Untables</a:t>
            </a:r>
            <a:r>
              <a:rPr lang="es-ES" sz="1800" dirty="0">
                <a:effectLst/>
                <a:latin typeface="Aptos" panose="020B0004020202020204" pitchFamily="34" charset="0"/>
              </a:rPr>
              <a:t>.</a:t>
            </a:r>
            <a:endParaRPr lang="es-ES" dirty="0">
              <a:latin typeface="Aptos" panose="020B0004020202020204" pitchFamily="34" charset="0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44F09E71-CE2F-36D0-CB7C-365D192B6AF3}"/>
              </a:ext>
            </a:extLst>
          </p:cNvPr>
          <p:cNvSpPr/>
          <p:nvPr/>
        </p:nvSpPr>
        <p:spPr>
          <a:xfrm>
            <a:off x="8943848" y="2082800"/>
            <a:ext cx="45719" cy="2171700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E07E9B73-6FA4-7982-FCB2-22A4A0021758}"/>
              </a:ext>
            </a:extLst>
          </p:cNvPr>
          <p:cNvSpPr txBox="1"/>
          <p:nvPr/>
        </p:nvSpPr>
        <p:spPr>
          <a:xfrm>
            <a:off x="594360" y="320040"/>
            <a:ext cx="3657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50" b="1" dirty="0"/>
              <a:t> </a:t>
            </a:r>
            <a:r>
              <a:rPr lang="es-ES" sz="1000" b="1" i="1" dirty="0"/>
              <a:t>Descomposición y Segmentación de Ventas</a:t>
            </a:r>
            <a:endParaRPr lang="es-CO" sz="1050" b="1" dirty="0"/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50" dirty="0"/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8CDAE12A-1644-78BF-4562-12EC78FA55BC}"/>
              </a:ext>
            </a:extLst>
          </p:cNvPr>
          <p:cNvSpPr txBox="1"/>
          <p:nvPr/>
        </p:nvSpPr>
        <p:spPr>
          <a:xfrm>
            <a:off x="746760" y="6172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</a:t>
            </a:r>
            <a:r>
              <a:rPr lang="es-CO" dirty="0"/>
              <a:t>l</a:t>
            </a:r>
            <a:r>
              <a:rPr dirty="0"/>
              <a:t> </a:t>
            </a:r>
            <a:r>
              <a:rPr dirty="0" err="1"/>
              <a:t>resultado</a:t>
            </a:r>
            <a:r>
              <a:rPr lang="es-CO" dirty="0"/>
              <a:t> #3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1801876" y="2082800"/>
            <a:ext cx="45719" cy="2862322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1847595" y="1627632"/>
            <a:ext cx="7141972" cy="392861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A176C05-A6C8-886B-4356-1DCF630655CC}"/>
              </a:ext>
            </a:extLst>
          </p:cNvPr>
          <p:cNvSpPr/>
          <p:nvPr/>
        </p:nvSpPr>
        <p:spPr>
          <a:xfrm>
            <a:off x="8980425" y="2082800"/>
            <a:ext cx="54862" cy="2862322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A592D01-D00E-390B-2E5C-DE87F0C26B9D}"/>
              </a:ext>
            </a:extLst>
          </p:cNvPr>
          <p:cNvSpPr txBox="1"/>
          <p:nvPr/>
        </p:nvSpPr>
        <p:spPr>
          <a:xfrm>
            <a:off x="2324100" y="1940226"/>
            <a:ext cx="6019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rial Black" panose="020B0A04020102020204" pitchFamily="34" charset="0"/>
              </a:rPr>
              <a:t>Predominio Continental:</a:t>
            </a:r>
            <a:r>
              <a:rPr lang="es-ES" dirty="0">
                <a:latin typeface="Arial Black" panose="020B0A04020102020204" pitchFamily="34" charset="0"/>
              </a:rPr>
              <a:t> </a:t>
            </a:r>
            <a:r>
              <a:rPr lang="es-ES" b="1" dirty="0">
                <a:latin typeface="Aptos" panose="020B0004020202020204" pitchFamily="34" charset="0"/>
              </a:rPr>
              <a:t>Europa</a:t>
            </a:r>
            <a:r>
              <a:rPr lang="es-ES" dirty="0">
                <a:latin typeface="Aptos" panose="020B0004020202020204" pitchFamily="34" charset="0"/>
              </a:rPr>
              <a:t> (26,23% / $102,41 mill.) y </a:t>
            </a:r>
            <a:r>
              <a:rPr lang="es-ES" b="1" dirty="0">
                <a:latin typeface="Aptos" panose="020B0004020202020204" pitchFamily="34" charset="0"/>
              </a:rPr>
              <a:t>Asia</a:t>
            </a:r>
            <a:r>
              <a:rPr lang="es-ES" dirty="0">
                <a:latin typeface="Aptos" panose="020B0004020202020204" pitchFamily="34" charset="0"/>
              </a:rPr>
              <a:t> (25,73% / $100,44 mill.) representan en conjunto más del 51% de las ventas globales ($390,34 mill. totales), consolidándose como los mercados regionales prioritarios.</a:t>
            </a:r>
          </a:p>
          <a:p>
            <a:endParaRPr lang="es-ES" dirty="0"/>
          </a:p>
          <a:p>
            <a:r>
              <a:rPr lang="es-ES" b="1" dirty="0">
                <a:latin typeface="Arial Black" panose="020B0A04020102020204" pitchFamily="34" charset="0"/>
              </a:rPr>
              <a:t>Estructura del Árbol de Descomposición</a:t>
            </a:r>
            <a:r>
              <a:rPr lang="es-ES" b="1" dirty="0"/>
              <a:t>:</a:t>
            </a:r>
            <a:r>
              <a:rPr lang="es-ES" dirty="0"/>
              <a:t> </a:t>
            </a:r>
            <a:r>
              <a:rPr lang="es-ES" dirty="0">
                <a:latin typeface="Aptos" panose="020B0004020202020204" pitchFamily="34" charset="0"/>
              </a:rPr>
              <a:t>La categoría </a:t>
            </a:r>
            <a:r>
              <a:rPr lang="es-ES" b="1" dirty="0">
                <a:latin typeface="Aptos" panose="020B0004020202020204" pitchFamily="34" charset="0"/>
              </a:rPr>
              <a:t>Carnes</a:t>
            </a:r>
            <a:r>
              <a:rPr lang="es-ES" dirty="0">
                <a:latin typeface="Aptos" panose="020B0004020202020204" pitchFamily="34" charset="0"/>
              </a:rPr>
              <a:t> es el principal motor de valor dentro de la oferta ($83,84 mill.), concentrando sus mayores ingresos en la marca </a:t>
            </a:r>
            <a:r>
              <a:rPr lang="es-ES" i="1" dirty="0">
                <a:latin typeface="Aptos" panose="020B0004020202020204" pitchFamily="34" charset="0"/>
              </a:rPr>
              <a:t>FlexiFusion</a:t>
            </a:r>
            <a:r>
              <a:rPr lang="es-ES" dirty="0">
                <a:latin typeface="Aptos" panose="020B0004020202020204" pitchFamily="34" charset="0"/>
              </a:rPr>
              <a:t> ($11,70 mill.) y en productos específicos como la </a:t>
            </a:r>
            <a:r>
              <a:rPr lang="es-ES" i="1" dirty="0">
                <a:latin typeface="Aptos" panose="020B0004020202020204" pitchFamily="34" charset="0"/>
              </a:rPr>
              <a:t>Carne de cordero</a:t>
            </a:r>
            <a:r>
              <a:rPr lang="es-ES" dirty="0">
                <a:latin typeface="Aptos" panose="020B0004020202020204" pitchFamily="34" charset="0"/>
              </a:rPr>
              <a:t> ($3,50 mill.) y el </a:t>
            </a:r>
            <a:r>
              <a:rPr lang="es-ES" i="1" dirty="0">
                <a:latin typeface="Aptos" panose="020B0004020202020204" pitchFamily="34" charset="0"/>
              </a:rPr>
              <a:t>Jamón</a:t>
            </a:r>
            <a:r>
              <a:rPr lang="es-ES" dirty="0">
                <a:latin typeface="Aptos" panose="020B0004020202020204" pitchFamily="34" charset="0"/>
              </a:rPr>
              <a:t> ($3,07 mill.).</a:t>
            </a:r>
          </a:p>
          <a:p>
            <a:endParaRPr lang="es-CO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789014" y="1311564"/>
            <a:ext cx="2434478" cy="508764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753062" y="1440873"/>
            <a:ext cx="45719" cy="484287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4109486" y="1440873"/>
            <a:ext cx="45719" cy="475672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/>
          <p:cNvSpPr txBox="1"/>
          <p:nvPr/>
        </p:nvSpPr>
        <p:spPr>
          <a:xfrm>
            <a:off x="907391" y="1546999"/>
            <a:ext cx="22074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  <a:cs typeface="Arial" panose="020B0604020202020204" pitchFamily="34" charset="0"/>
              </a:rPr>
              <a:t>Problemática identificada</a:t>
            </a:r>
          </a:p>
          <a:p>
            <a:r>
              <a:rPr lang="es-MX" dirty="0">
                <a:cs typeface="Arial" panose="020B0604020202020204" pitchFamily="34" charset="0"/>
              </a:rPr>
              <a:t>El análisis muestra que existe una diferencia en el desempeño de las categorías. </a:t>
            </a:r>
            <a:r>
              <a:rPr lang="es-MX" b="1" dirty="0">
                <a:cs typeface="Arial" panose="020B0604020202020204" pitchFamily="34" charset="0"/>
              </a:rPr>
              <a:t>Carnes y Vegetales presentan los mayores niveles de facturación</a:t>
            </a:r>
            <a:r>
              <a:rPr lang="es-MX" dirty="0">
                <a:cs typeface="Arial" panose="020B0604020202020204" pitchFamily="34" charset="0"/>
              </a:rPr>
              <a:t>, mientras que </a:t>
            </a:r>
            <a:r>
              <a:rPr lang="es-MX" b="1" dirty="0">
                <a:cs typeface="Arial" panose="020B0604020202020204" pitchFamily="34" charset="0"/>
              </a:rPr>
              <a:t>Condimentos y </a:t>
            </a:r>
            <a:r>
              <a:rPr lang="es-MX" b="1" dirty="0" err="1">
                <a:cs typeface="Arial" panose="020B0604020202020204" pitchFamily="34" charset="0"/>
              </a:rPr>
              <a:t>Untables</a:t>
            </a:r>
            <a:r>
              <a:rPr lang="es-MX" b="1" dirty="0">
                <a:cs typeface="Arial" panose="020B0604020202020204" pitchFamily="34" charset="0"/>
              </a:rPr>
              <a:t> tienen un desempeño inferior</a:t>
            </a:r>
            <a:r>
              <a:rPr lang="es-MX" dirty="0">
                <a:cs typeface="Arial" panose="020B0604020202020204" pitchFamily="34" charset="0"/>
              </a:rPr>
              <a:t> frente a estas categorías. 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4155205" y="1311565"/>
            <a:ext cx="2629598" cy="4886036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4350326" y="1440873"/>
            <a:ext cx="24344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</a:rPr>
              <a:t>¿Qué productos tienen menor desempeño?</a:t>
            </a:r>
          </a:p>
          <a:p>
            <a:r>
              <a:rPr lang="es-MX" dirty="0"/>
              <a:t>Los productos pertenecientes a las categorías con menor facturación presentan menores resultados de ventas. El </a:t>
            </a:r>
            <a:r>
              <a:rPr lang="es-MX" dirty="0" err="1"/>
              <a:t>dashboard</a:t>
            </a:r>
            <a:r>
              <a:rPr lang="es-MX" dirty="0"/>
              <a:t> permite analizar estos productos mediante </a:t>
            </a:r>
            <a:r>
              <a:rPr lang="es-MX" b="1" dirty="0"/>
              <a:t>subcategoría, marca y nombre del producto</a:t>
            </a:r>
            <a:r>
              <a:rPr lang="es-MX" dirty="0"/>
              <a:t>, aunque no establece una causa directa de por qué tienen menor venta.</a:t>
            </a:r>
          </a:p>
          <a:p>
            <a:endParaRPr lang="en-US" dirty="0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4E755B1-984F-135A-50EB-1E2A5A11AD36}"/>
              </a:ext>
            </a:extLst>
          </p:cNvPr>
          <p:cNvSpPr/>
          <p:nvPr/>
        </p:nvSpPr>
        <p:spPr>
          <a:xfrm>
            <a:off x="7521396" y="1293092"/>
            <a:ext cx="3460640" cy="505522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i="1" dirty="0" smtClean="0"/>
              <a:t>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C59D7AD-3708-CBAA-E752-0CB280DC501F}"/>
              </a:ext>
            </a:extLst>
          </p:cNvPr>
          <p:cNvSpPr/>
          <p:nvPr/>
        </p:nvSpPr>
        <p:spPr>
          <a:xfrm>
            <a:off x="7475677" y="1440873"/>
            <a:ext cx="45719" cy="4756727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uadroTexto 13"/>
          <p:cNvSpPr txBox="1"/>
          <p:nvPr/>
        </p:nvSpPr>
        <p:spPr>
          <a:xfrm>
            <a:off x="7716517" y="1546999"/>
            <a:ext cx="31710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Black" panose="020B0A04020102020204" pitchFamily="34" charset="0"/>
              </a:rPr>
              <a:t>Solución</a:t>
            </a:r>
          </a:p>
          <a:p>
            <a:r>
              <a:rPr lang="es-MX" b="1" dirty="0"/>
              <a:t>Concentrar el análisis y las estrategias comerciales en las categorías de menor desempeño, especialmente Condimentos y </a:t>
            </a:r>
            <a:r>
              <a:rPr lang="es-MX" b="1" dirty="0" err="1"/>
              <a:t>Untables</a:t>
            </a:r>
            <a:r>
              <a:rPr lang="es-MX" b="1" dirty="0"/>
              <a:t>, tomando como referencia el comportamiento de las categorías líderes como Carnes y Vegetales.</a:t>
            </a:r>
            <a:r>
              <a:rPr lang="es-MX" dirty="0"/>
              <a:t> De esta manera se busca mejorar el rendimiento de los productos con menores ventas y aprovechar la información obtenida del </a:t>
            </a:r>
            <a:r>
              <a:rPr lang="es-MX" dirty="0" err="1"/>
              <a:t>dashboard</a:t>
            </a:r>
            <a:r>
              <a:rPr lang="es-MX" dirty="0"/>
              <a:t> para orientar las decisiones comerciales.</a:t>
            </a:r>
          </a:p>
          <a:p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34109" y="489527"/>
            <a:ext cx="6155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700" b="1" dirty="0" smtClean="0">
                <a:solidFill>
                  <a:srgbClr val="142C46"/>
                </a:solidFill>
                <a:latin typeface="Aptos"/>
              </a:rPr>
              <a:t>Problemáticas</a:t>
            </a:r>
            <a:r>
              <a:rPr lang="es-MX" dirty="0" smtClean="0"/>
              <a:t> </a:t>
            </a:r>
            <a:r>
              <a:rPr lang="es-MX" sz="2800" dirty="0" smtClean="0">
                <a:latin typeface="Aptos" panose="020B0004020202020204"/>
              </a:rPr>
              <a:t>y</a:t>
            </a:r>
            <a:r>
              <a:rPr lang="es-MX" dirty="0" smtClean="0"/>
              <a:t> </a:t>
            </a:r>
            <a:r>
              <a:rPr lang="es-MX" sz="2700" b="1" dirty="0">
                <a:solidFill>
                  <a:srgbClr val="142C46"/>
                </a:solidFill>
                <a:latin typeface="Aptos"/>
              </a:rPr>
              <a:t>Solución</a:t>
            </a:r>
            <a:endParaRPr lang="en-US" sz="2700" b="1" dirty="0">
              <a:solidFill>
                <a:srgbClr val="142C46"/>
              </a:solidFill>
              <a:latin typeface="Aptos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E07E9B73-6FA4-7982-FCB2-22A4A0021758}"/>
              </a:ext>
            </a:extLst>
          </p:cNvPr>
          <p:cNvSpPr txBox="1"/>
          <p:nvPr/>
        </p:nvSpPr>
        <p:spPr>
          <a:xfrm>
            <a:off x="594360" y="320040"/>
            <a:ext cx="3657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891C8"/>
                </a:solidFill>
                <a:latin typeface="Aptos"/>
              </a:defRPr>
            </a:pPr>
            <a:r>
              <a:rPr lang="es-CO" sz="1050" b="1" dirty="0"/>
              <a:t> </a:t>
            </a:r>
            <a:r>
              <a:rPr lang="es-ES" sz="1000" b="1" i="1" dirty="0" smtClean="0"/>
              <a:t>Análisis de inconvenientes</a:t>
            </a:r>
            <a:endParaRPr lang="es-CO" sz="1050" b="1" dirty="0"/>
          </a:p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72871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891C8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892" y="535803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C46"/>
                </a:solidFill>
                <a:latin typeface="Aptos"/>
              </a:defRPr>
            </a:pPr>
            <a:r>
              <a:rPr lang="es-CO" dirty="0"/>
              <a:t>Conclusiones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6F7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66543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C0577F43-31D4-57D8-74E5-B3063EE7384B}"/>
              </a:ext>
            </a:extLst>
          </p:cNvPr>
          <p:cNvSpPr/>
          <p:nvPr/>
        </p:nvSpPr>
        <p:spPr>
          <a:xfrm>
            <a:off x="1258823" y="934420"/>
            <a:ext cx="9964989" cy="549381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Categorías LÍderes en Facturación:</a:t>
            </a:r>
            <a:r>
              <a:rPr lang="es-ES" dirty="0"/>
              <a:t> Las subcategorías de </a:t>
            </a:r>
            <a:r>
              <a:rPr lang="es-ES" b="1" dirty="0"/>
              <a:t>Carnes</a:t>
            </a:r>
            <a:r>
              <a:rPr lang="es-ES" dirty="0"/>
              <a:t> (encabezada por marcas como </a:t>
            </a:r>
            <a:r>
              <a:rPr lang="es-ES" i="1" dirty="0"/>
              <a:t>FlexiFusion</a:t>
            </a:r>
            <a:r>
              <a:rPr lang="es-ES" dirty="0"/>
              <a:t> y </a:t>
            </a:r>
            <a:r>
              <a:rPr lang="es-ES" i="1" dirty="0"/>
              <a:t>AquaLume</a:t>
            </a:r>
            <a:r>
              <a:rPr lang="es-ES" dirty="0"/>
              <a:t>) y </a:t>
            </a:r>
            <a:r>
              <a:rPr lang="es-ES" b="1" dirty="0"/>
              <a:t>Vegetales</a:t>
            </a:r>
            <a:r>
              <a:rPr lang="es-ES" dirty="0"/>
              <a:t> registran los picos más altos de ventas individuales (~$11,8 mill. y $11,5 mill. respectivamente), superando a categorías secundarias como </a:t>
            </a:r>
            <a:r>
              <a:rPr lang="es-ES" i="1" dirty="0"/>
              <a:t>Condimentos</a:t>
            </a:r>
            <a:r>
              <a:rPr lang="es-ES" dirty="0"/>
              <a:t> o </a:t>
            </a:r>
            <a:r>
              <a:rPr lang="es-ES" i="1" dirty="0"/>
              <a:t>Untables</a:t>
            </a:r>
            <a:r>
              <a:rPr lang="es-ES" dirty="0"/>
              <a:t>.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CD54E67B-D9C6-D44F-D6F0-EAAF76C5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02" y="1181456"/>
            <a:ext cx="952972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 conclusión, este proyecto permitió demostrar cómo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Power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BI puede transformar los datos de ventas de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DataDiaUno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en información clara, organizada y útil para la toma de decisiones. A través de la preparación de los datos, la creación de medidas DAX y el uso de diferentes visualizaciones, fue posible analizar las ventas desde diferentes perspectivas, como el comportamiento temporal, la ubicación geográfica, los productos y los clientes.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Los resultados muestran un comportamiento estable de las ventas y la ganancia entre 2020 y 2023, con un margen del 46%. Además, se identificó que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Europa y Asia representan más del 51% de las ventas globales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mientras que la categoría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Carnes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se destaca como el principal motor de valor.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Finalmente, el dashboard facilita la interpretación de estos resultados y permite identificar oportunidades, comparar el desempeño de diferentes mercados y productos y apoyar decisiones empresariales basadas en datos. De esta manera, se evidencia que el análisis de datos no consiste únicamente en presentar información, sino en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convertirla en conocimiento que permita tomar mejores decisiones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F0FA090-1D18-EC45-A229-365814EB0518}"/>
              </a:ext>
            </a:extLst>
          </p:cNvPr>
          <p:cNvSpPr/>
          <p:nvPr/>
        </p:nvSpPr>
        <p:spPr>
          <a:xfrm flipH="1">
            <a:off x="1069848" y="1459301"/>
            <a:ext cx="170687" cy="4492691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3F0FA090-1D18-EC45-A229-365814EB0518}"/>
              </a:ext>
            </a:extLst>
          </p:cNvPr>
          <p:cNvSpPr/>
          <p:nvPr/>
        </p:nvSpPr>
        <p:spPr>
          <a:xfrm flipH="1">
            <a:off x="11217253" y="1459302"/>
            <a:ext cx="170687" cy="4492691"/>
          </a:xfrm>
          <a:prstGeom prst="rect">
            <a:avLst/>
          </a:prstGeom>
          <a:solidFill>
            <a:srgbClr val="35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8A2672-0267-48F1-AEAD-E83CCF1E55F6}">
  <we:reference id="wa200007130" version="1.0.0.1" store="es-E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1326</Words>
  <Application>Microsoft Office PowerPoint</Application>
  <PresentationFormat>Panorámica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SENA</dc:creator>
  <cp:keywords/>
  <dc:description>generated using python-pptx</dc:description>
  <cp:lastModifiedBy>SENA</cp:lastModifiedBy>
  <cp:revision>27</cp:revision>
  <dcterms:created xsi:type="dcterms:W3CDTF">2013-01-27T09:14:16Z</dcterms:created>
  <dcterms:modified xsi:type="dcterms:W3CDTF">2026-09-14T16:08:25Z</dcterms:modified>
  <cp:category/>
</cp:coreProperties>
</file>